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STRATEGIC MEMORANDUM &amp; INVESTOR DECK  •  PRE-SEED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AgentLab OS: The Autonomous AI-Native Agency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Segoe UI"/>
              </a:defRPr>
            </a:pPr>
            <a:r>
              <a:t>Replacing Disconnected SaaS Shelfware with an Ownable, Autonomous Agency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4846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MARKET VISION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2.5 million boutique professional service agencies and digital consultancies into autonomous, exit-ready, high-margin operating enterprises.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484632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THE CORE PREMISE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Eliminate the $2,000/mo multi-app SaaS tax and 25 hours of weekly administrative drag by unifying communication, autonomous swarms, GTM discovery, and governance into a single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Principal: Robert T. McCarthy  |  Uncle Robert Consulting LLC / Bootstrapper Capital  |  https://agentlab-718497644379.us-central1.run.app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$300B SME &amp; Agency Fragmentation Crisis (The 'Shelfware Tax')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COMMUNICATION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Slack ($96/yr)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Zoom ($180/yr)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Loom ($150/yr)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630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AUTOMATION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Zapier ($600/yr)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Make ($180/yr)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Custom 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630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SALES &amp; CRM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HubSpot ($3,200/yr)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Instantly ($1,000/yr)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Apollo ($1,200/yr)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63040"/>
            <a:ext cx="22677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DELIVERY &amp; OPS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ClickUp ($120/yr)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AI Wrappers ($1,200/yr)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Google Workspace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728655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THE COMPOUNDING IMPACT ON BOUTIQUE AGENCIES</a:t>
            </a:r>
          </a:p>
          <a:p>
            <a:pPr>
              <a:defRPr b="1" sz="1200">
                <a:solidFill>
                  <a:srgbClr val="EF4444"/>
                </a:solidFill>
                <a:latin typeface="Segoe UI"/>
              </a:defRPr>
            </a:pPr>
            <a:r>
              <a:t>• 1. Massive Software Sprawl: </a:t>
            </a:r>
            <a:r>
              <a:rPr b="0">
                <a:solidFill>
                  <a:srgbClr val="94A3B8"/>
                </a:solidFill>
              </a:rPr>
              <a:t>Agencies subscribe to 8–12 different single-purpose SaaS apps, creating data silos, broken webhooks, and wasting $18k–$30k/year per firm on underutilized shelfware.</a:t>
            </a:r>
          </a:p>
          <a:p>
            <a:pPr>
              <a:defRPr b="1" sz="1200">
                <a:solidFill>
                  <a:srgbClr val="EF4444"/>
                </a:solidFill>
                <a:latin typeface="Segoe UI"/>
              </a:defRPr>
            </a:pPr>
            <a:r>
              <a:t>• 2. The 'Human API' Bottleneck: </a:t>
            </a:r>
            <a:r>
              <a:rPr b="0">
                <a:solidFill>
                  <a:srgbClr val="94A3B8"/>
                </a:solidFill>
              </a:rPr>
              <a:t>Founders and account managers spend 20–25 hours/week acting as manual data routers between CRM, email, video rooms, and task trackers.</a:t>
            </a:r>
          </a:p>
          <a:p>
            <a:pPr>
              <a:defRPr b="1" sz="1200">
                <a:solidFill>
                  <a:srgbClr val="EF4444"/>
                </a:solidFill>
                <a:latin typeface="Segoe UI"/>
              </a:defRPr>
            </a:pPr>
            <a:r>
              <a:t>• 3. Zero Transferable Equity: </a:t>
            </a:r>
            <a:r>
              <a:rPr b="0">
                <a:solidFill>
                  <a:srgbClr val="94A3B8"/>
                </a:solidFill>
              </a:rPr>
              <a:t>When business operations rely entirely on founder heroics and duct-taped apps, the firm has zero enterprise equity and trades at depressed 1.0x–1.5x revenue multiples.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AgentLab OS: One Unified, Autonomous, Ownable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NATIVE VIRTUAL OFFICE &amp; COMMS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Embedded 1080p WebRTC Video War Room (/meeting)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Unified Client Messenger &amp; Office Channels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Async Screen &amp; Video Teardown Studio (/screen)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Replaces Zoom, Slack &amp; Loom completely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AUTONOMOUS MULTI-AGENT SWARMS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10 Canonical Departmental DAG Workflows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Live Run Inspector &amp; Tool Trace Debugger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Anti-Passivity Execution &amp; Zero-Refusal Gates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Cryptographic SHA-256 Results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HIGH-CONVERSION GTM DISCOVERY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ICP Precision Dossier Synthesizer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Consulting Assessment Question Bank (18+ SOPs)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Pamela Conversational AI Voice Telephony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Generates client-ready audit deliverables in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4. GOVERNANCE &amp; TRANSFERABLE EQUITY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Bootstrapper.ai Independence Model &amp; Scorecard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Interactive Visual Blueprint &amp; Runbooks (/docs)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Multi-Tier Package Isolation &amp; Entitlements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Builds transferable enterprise value for exit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 Massive, Underserved $45B+ Addressable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TOTAL ADDRESSABLE MARKET (TAM)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$45.8B Global Agency &amp; Professional Services Operations 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SERVICEABLE ADDRESSABLE MARKET (SAM)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$12.4B Boutique B2B Agencies &amp; Service Firms (1-50 employees, $250k-$10M rev)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30352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SERVICEABLE OBTAINABLE MARKET (SOM - Wedge)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$450M Tech-Forward Marketing, Sales &amp; Ops Consultancies in US &amp; Canada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05937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TARGET ICP &amp; URGENT MARKET TAILWINDS</a:t>
            </a:r>
          </a:p>
          <a:p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• Target ICP: </a:t>
            </a:r>
            <a:r>
              <a:rPr b="0">
                <a:solidFill>
                  <a:srgbClr val="94A3B8"/>
                </a:solidFill>
              </a:rPr>
              <a:t>Boutique digital marketing agencies, SEO consultancies, RevOps advisory firms, commercial brokerages, and solo founders ($250k–$3M ARR).</a:t>
            </a:r>
          </a:p>
          <a:p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• SaaS Fatigue &amp; Budget Cuts: </a:t>
            </a:r>
            <a:r>
              <a:rPr b="0">
                <a:solidFill>
                  <a:srgbClr val="94A3B8"/>
                </a:solidFill>
              </a:rPr>
              <a:t>High interest rates and tightening margins are forcing agencies to ruthlessly consolidate software expenses.</a:t>
            </a:r>
          </a:p>
          <a:p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• Shift from Chatbots to Autonomous Swarms: </a:t>
            </a:r>
            <a:r>
              <a:rPr b="0">
                <a:solidFill>
                  <a:srgbClr val="94A3B8"/>
                </a:solidFill>
              </a:rPr>
              <a:t>Agencies are abandoning prompt wrappers for deterministic, multi-agent workflows that produce verifiable client deliverables.</a:t>
            </a:r>
          </a:p>
          <a:p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• Desire for Equity &amp; Independence: </a:t>
            </a:r>
            <a:r>
              <a:rPr b="0">
                <a:solidFill>
                  <a:srgbClr val="94A3B8"/>
                </a:solidFill>
              </a:rPr>
              <a:t>Agency founders want an asset that runs independently of their personal hours so it can eventually be sold or transitioned.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Proprietary Technology &amp; Core Defensible Moats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VERIFIABLE RESULTS ARCHITECTURE (NOT CHATBOTS)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Enforces an Anti-Passivity &amp; Zero-Refusal Gate where agents execute deterministic code tools (scrapeUrl, auditFileInventory, verifyDelivery). Every deliverable is cryptographically stamped with SHA-256 checksums in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2. ZERO-SAAS VIRTUAL OFFICE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Proprietary integration of embedded peer-to-peer WebRTC video conferencing and browser-native MediaRecorder capture eliminating 100% of Zoom and Loom licensing costs for agency tenants.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12464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22192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3. AUTONOMOUS 10-NODE SWARM DAG ENGINE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Multi-agent orchestration across 7 departments with a real-time Quality Flywheel scoring deliverables on Brand Voice, Actionable CTAs, Hallucination Gates, and Structural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82896"/>
            <a:ext cx="10728655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92624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4. THE TRANSFERABLE EQUITY MOAT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Direct strategic alignment with the Bootstrapper.ai Independence Model, elevating the client's Ownable Score and compressing discount rates for future enterprise exit or acquisition.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High-Margin Land-and-Expand Offer Ladder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WEDGE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$1,000 Sprint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5-Day Starter Setup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CAC Paid Day 1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Instant ROI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6304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2. CONTINUITY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$500 / Month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Core AgentLab OS ARR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Virtual Office + Swarms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92.4% Gross Margin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42032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46304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3. EXPANSION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$2,500 / Month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Multi-Department Swarms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Full Agency Scaling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Dedicated Pipelines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42032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463040"/>
            <a:ext cx="22677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4. ENTERPRISE</a:t>
            </a:r>
          </a:p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$25,000+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Custom Private Swarms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Bespoke Integrations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Dedicated VPC &amp; SLAS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UNMATCHED SAAS UNIT ECONOMICS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Customer Acquisition Cost (CAC): $0 (Paid on Day 1): </a:t>
            </a:r>
            <a:r>
              <a:rPr b="0">
                <a:solidFill>
                  <a:srgbClr val="94A3B8"/>
                </a:solidFill>
              </a:rPr>
              <a:t>The $1,000 Founder Signal System starter sprint fully funds customer acquisition on day one.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Ultra-Lean Infrastructure Overhead: $12 – $38 / month per tenant: </a:t>
            </a:r>
            <a:r>
              <a:rPr b="0">
                <a:solidFill>
                  <a:srgbClr val="94A3B8"/>
                </a:solidFill>
              </a:rPr>
              <a:t>Leveraging Google Cloud Run serverless, PostgreSQL connection pooling, and Gemini Flash prompt caching.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Software Gross Margins: 92.4% SaaS / 85%+ Blended: </a:t>
            </a:r>
            <a:r>
              <a:rPr b="0">
                <a:solidFill>
                  <a:srgbClr val="94A3B8"/>
                </a:solidFill>
              </a:rPr>
              <a:t>Minimal third-party API dependencies drive software gross margins comparable to top-tier enterprise SaaS.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Net Revenue Retention (NRR): 135%+ Target: </a:t>
            </a:r>
            <a:r>
              <a:rPr b="0">
                <a:solidFill>
                  <a:srgbClr val="94A3B8"/>
                </a:solidFill>
              </a:rPr>
              <a:t>Built-in expansion from single-department wedge to full 7-department enterprise autonomous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Quantified Pre-Seed Customer Metrics &amp; Live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$18,500 CURRENT MRR (BETA)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14 active paying clients &amp; beta workspaces generating recurring subscription &amp; starter sprint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1,450+ WEEKLY DAG RUNS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100% autonomous multi-agent orchestration running live lead capture, financial reconciliation, CI/CD, and client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83 CERTIFIED OPERATIONAL SOPs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Zero-drift compliance verified by automated CI/CD scanners (pnpm change-control:check) with 0 drift findings across the codebase.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PROVEN RUNTIME INFRASTRUCTURE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 Google Cloud Run deployment with ElevenLabs voice telephony, Resend SMTP, HubSpot CRM, and PostgreSQL state machines.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COMPETITIVE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AgentLab OS vs. Fragmented SaaS &amp; Generic AI Wrappers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828800"/>
                <a:gridCol w="1828800"/>
                <a:gridCol w="2133295"/>
              </a:tblGrid>
              <a:tr h="653142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Fragmented SaaS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Generic AI Wrappers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Raw No-Code (n8n/Make)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AgentLab OS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All-in-One Virtual Office (Video/Chat/Screen)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Fragmented ($400+/mo)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 Comms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 Comms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Native WebRTC &amp; 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Autonomous Multi-Agent DAG Swarms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Single Prompt Only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Manual Build Required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10 Pre-Built DAGs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Verifiable Proof &amp; SHA-256 Vault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Cryptographic Vault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Built-in GTM Discovery &amp; Assessments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Third-party addons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Generic templates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Precision High-Signal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Monthly Operating Overhead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🔴 $1,500 – $2,500/mo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🔴 $100 – $500/mo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🟡 $200 – $600/mo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🟢 &lt; $50/mo Total Cloud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Transferable Business Equity Score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0% Equity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0% Equity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0% Equity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Certified Model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Servant-Leadership Growth Engine &amp; Distribution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CONTENT &amp; AUTHORITY RADAR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LinkedIn Build Logs, YouTube System Teardowns &amp; Social Adept AI Listening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2. FREE HIGH-SIGNAL WEDGE ASSETS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15-Minute Automation Audits, ICP Generators &amp; 'Startup Operational Excellence' 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3. FOUNDER ROUNDTABLES &amp; DIAGNOSTICS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Bootstrapper Capital community roundtables &amp; SAL-01 proprietary diagnostic scorecards.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4. $1,000 SPRINT ➔ $500/MO OS CONTINUITY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Frictionless 5-day onboarding converts into recurring high-retention OS subscription.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59375" cy="4617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CORE DISTRIBUTION ADVANTAGES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Bootstrapper Capital Ecosystem: </a:t>
            </a:r>
            <a:r>
              <a:rPr b="0">
                <a:solidFill>
                  <a:srgbClr val="94A3B8"/>
                </a:solidFill>
              </a:rPr>
              <a:t>Direct access to hundreds of agency founders seeking operational independence and automated systems.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Social Adept Autonomous Listening: </a:t>
            </a:r>
            <a:r>
              <a:rPr b="0">
                <a:solidFill>
                  <a:srgbClr val="94A3B8"/>
                </a:solidFill>
              </a:rPr>
              <a:t>Self-operating AI radar identifying active pain points on Reddit, HN, and LinkedIn to generate daily high-relevance authority content.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Self-Funding Customer Acquisition: </a:t>
            </a:r>
            <a:r>
              <a:rPr b="0">
                <a:solidFill>
                  <a:srgbClr val="94A3B8"/>
                </a:solidFill>
              </a:rPr>
              <a:t>The $1,000 starter sprint immediately recovers acquisition costs, enabling profitable, capital-efficient scaling from day one.</a:t>
            </a:r>
          </a:p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• Zero-Drift Client Onboarding: </a:t>
            </a:r>
            <a:r>
              <a:rPr b="0">
                <a:solidFill>
                  <a:srgbClr val="94A3B8"/>
                </a:solidFill>
              </a:rPr>
              <a:t>Automated DAG workflows deploy new client tenants in under 10 minutes with pre-configured playbooks.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FINANCIAL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3-Year Financial Model: High-Velocity, High-Margin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749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YEAR 1: WEDGE &amp; SCALE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$1.5M ARR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$1.85M Total Rev  |  250 Tenants  |  38% EBITDA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11480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3749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YEAR 2: EXPANSION &amp; NETWORK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$6.0M ARR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$7.20M Total Rev  |  1,000 Tenants  |  48% EBITDA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411480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3749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YEAR 3: CATEGORY DOMINANCE</a:t>
            </a:r>
          </a:p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$21.0M ARR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$24.8M Total Rev  |  3,500 Tenants  |  58% EBITDA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0" y="1371600"/>
          <a:ext cx="633953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1280160"/>
                <a:gridCol w="1280160"/>
                <a:gridCol w="1280160"/>
              </a:tblGrid>
              <a:tr h="666205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Financial Metric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Active OS Tenants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3,500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Starter Sprint Customers ($1k)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Annual Recurring Revenue (ARR)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$1,500,000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$6,000,000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$21,000,000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Total Revenue (ARR + Sprints)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$1,850,000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$7,200,000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$24,800,000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Gross Margin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93.2%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EBITDA Margin (%)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48.5%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58.2%</a:t>
                      </a:r>
                    </a:p>
                  </a:txBody>
                  <a:tcPr>
                    <a:solidFill>
                      <a:srgbClr val="1923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Experienced Operators Who Have Built, Scaled &amp;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ROBERT T. MCCARTHY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Principal &amp; Chief Architect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20+ years operational leadership, enterprise business architecture, and AI systems engineering.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Creator of the Bootstrapper Independence Framework and Author of 'Startup Operational Excellence'.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Architect of AgentLab OS multi-agent swarms and governance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SHEENA BURNS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Co-Founder &amp; Head of Operations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12+ years experience in agency service delivery, client success, and operational workflow orchestration.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Leads tenant onboarding, partner customer support, and QA governance.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Driving frictionless zero-drift adoption across boutique agency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LORENZO MCCARTHY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Strategic Advisor &amp; Enterprise Partner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Principal at NWN Advisory, specialized in enterprise IT transformation and strategic partner networks.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Deep advisory expertise in scalable enterprise sales, capital allocation, and channel alliances.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Guiding enterprise market penetration and institutional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STRATEGIC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Ask: Raising $750,000 Pre-Seed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Uncle Robert Consulting LLC / Bootstrapper Capital  |  DOC-INVESTOR-PITCH-DECK-V1  |  Confidential  |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40% ($300K) — ENGINEERING &amp; SWARM SCALING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Expand pre-built DAG workflow library across vertical playbooks (Legal, Healthcare, Real Estate); deepen native multimodal runtimes.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35% ($262.5K) — GTM &amp; ECOSYSTEM ACCELERATION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Scale Bootstrapper Capital founder roundtables, partner channel onboarding, and autonomous Social Adept listening engines.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15% ($112.5K) — ENTERPRISE HARDENING &amp; COMPLIANCE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SOC2 Type II compliance, advanced multi-tenant VPC isolation, and cryptographic audit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10% ($75K) — OPERATIONAL RUNWAY &amp; RESERVE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lean, debt-free, anti-fragile financial reserves and sovereign infrastructure.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59375" cy="4617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egoe UI"/>
              </a:defRPr>
            </a:pPr>
            <a:r>
              <a:t>JOIN US IN REDEFINING AGENCY OPERATIONS</a:t>
            </a:r>
          </a:p>
          <a:p>
            <a:br/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Direct Investor Contact:</a:t>
            </a:r>
          </a:p>
          <a:p>
            <a:pPr>
              <a:defRPr b="0" sz="1200">
                <a:solidFill>
                  <a:srgbClr val="F8FAFC"/>
                </a:solidFill>
                <a:latin typeface="Segoe UI"/>
              </a:defRPr>
            </a:pPr>
            <a:r>
              <a:t>robert@unclerobertconsulting.com</a:t>
            </a:r>
          </a:p>
          <a:p>
            <a:br/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Live Platform OS Access:</a:t>
            </a:r>
          </a:p>
          <a:p>
            <a:pPr>
              <a:defRPr b="0" sz="1200">
                <a:solidFill>
                  <a:srgbClr val="F8FAFC"/>
                </a:solidFill>
                <a:latin typeface="Segoe UI"/>
              </a:defRPr>
            </a:pPr>
            <a:r>
              <a:t>https://agentlab-718497644379.us-central1.run.app/</a:t>
            </a:r>
          </a:p>
          <a:p>
            <a:br/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Schedule a Private War Room Demo:</a:t>
            </a:r>
          </a:p>
          <a:p>
            <a:pPr>
              <a:defRPr b="0" sz="1200">
                <a:solidFill>
                  <a:srgbClr val="F8FAFC"/>
                </a:solidFill>
                <a:latin typeface="Segoe UI"/>
              </a:defRPr>
            </a:pPr>
            <a:r>
              <a:t>https://agentlab-718497644379.us-central1.run.app/meeting</a:t>
            </a:r>
          </a:p>
          <a:p>
            <a:br/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Live OS Cockpit &amp; Dashboard:</a:t>
            </a:r>
          </a:p>
          <a:p>
            <a:pPr>
              <a:defRPr b="0" sz="1200">
                <a:solidFill>
                  <a:srgbClr val="F8FAFC"/>
                </a:solidFill>
                <a:latin typeface="Segoe UI"/>
              </a:defRPr>
            </a:pPr>
            <a:r>
              <a:t>https://agentlab-718497644379.us-central1.run.app/dashboard</a:t>
            </a:r>
          </a:p>
          <a:p>
            <a:br/>
            <a:pPr>
              <a:defRPr b="1" sz="1150">
                <a:solidFill>
                  <a:srgbClr val="38BDF8"/>
                </a:solidFill>
                <a:latin typeface="Segoe UI"/>
              </a:defRPr>
            </a:pPr>
            <a:r>
              <a:t>Marketing &amp; Brand Website:</a:t>
            </a:r>
          </a:p>
          <a:p>
            <a:pPr>
              <a:defRPr b="0" sz="1200">
                <a:solidFill>
                  <a:srgbClr val="F8FAFC"/>
                </a:solidFill>
                <a:latin typeface="Segoe UI"/>
              </a:defRPr>
            </a:pPr>
            <a:r>
              <a:t>https://agent-lab.tech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